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Comfortaa Regular"/>
      <p:regular r:id="rId22"/>
      <p:bold r:id="rId23"/>
    </p:embeddedFont>
    <p:embeddedFont>
      <p:font typeface="Montserrat Light"/>
      <p:regular r:id="rId24"/>
      <p:bold r:id="rId25"/>
      <p:italic r:id="rId26"/>
      <p:boldItalic r:id="rId27"/>
    </p:embeddedFont>
    <p:embeddedFont>
      <p:font typeface="Comforta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ComfortaaRegular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ComfortaaRegula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8" Type="http://schemas.openxmlformats.org/officeDocument/2006/relationships/font" Target="fonts/Comfortaa-regular.fntdata"/><Relationship Id="rId27" Type="http://schemas.openxmlformats.org/officeDocument/2006/relationships/font" Target="fonts/Montserrat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mforta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f6ce9f0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f6ce9f0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bf6ce9f08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bf6ce9f08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bf6ce9f08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bf6ce9f08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f6ce9f0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f6ce9f0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f6ce9f08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f6ce9f08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bf6ce9f08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bf6ce9f08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bf6ce9f08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bf6ce9f08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bf6ce9f082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bf6ce9f082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bf6ce9f082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bf6ce9f082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bf6ce9f082_0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bf6ce9f082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bf6ce9f0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bf6ce9f0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64875" y="841248"/>
            <a:ext cx="4995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Dvejetainis</a:t>
            </a: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 paieškos medis 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>
            <a:off x="1596975" y="1855175"/>
            <a:ext cx="321900" cy="6387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/>
          <p:cNvCxnSpPr/>
          <p:nvPr/>
        </p:nvCxnSpPr>
        <p:spPr>
          <a:xfrm flipH="1">
            <a:off x="1596975" y="3137400"/>
            <a:ext cx="321900" cy="6435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" name="Google Shape;57;p13"/>
          <p:cNvGrpSpPr/>
          <p:nvPr/>
        </p:nvGrpSpPr>
        <p:grpSpPr>
          <a:xfrm>
            <a:off x="1270325" y="1206775"/>
            <a:ext cx="1287150" cy="2578950"/>
            <a:chOff x="750675" y="1891650"/>
            <a:chExt cx="1287150" cy="2578950"/>
          </a:xfrm>
        </p:grpSpPr>
        <p:cxnSp>
          <p:nvCxnSpPr>
            <p:cNvPr id="58" name="Google Shape;58;p13"/>
            <p:cNvCxnSpPr/>
            <p:nvPr/>
          </p:nvCxnSpPr>
          <p:spPr>
            <a:xfrm flipH="1">
              <a:off x="750675" y="1891650"/>
              <a:ext cx="3219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1082325" y="1896525"/>
              <a:ext cx="955500" cy="19356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 flipH="1">
              <a:off x="750975" y="3183600"/>
              <a:ext cx="3216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077450" y="3183600"/>
              <a:ext cx="643500" cy="12870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" name="Google Shape;62;p13"/>
          <p:cNvSpPr/>
          <p:nvPr/>
        </p:nvSpPr>
        <p:spPr>
          <a:xfrm>
            <a:off x="1433325" y="3610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075325" y="3610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112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1754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2396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1433325" y="2326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075325" y="2326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112325" y="1684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754325" y="1684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1433325" y="1042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564875" y="2056150"/>
            <a:ext cx="27861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Elemento paieška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Elemento įterpimas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Elemento šalinimas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Medžio apėjimas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6725175" y="4450700"/>
            <a:ext cx="218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Tomas  Šinkūnas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VU ISI, pirmas kursas, antra grupė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/>
        </p:nvSpPr>
        <p:spPr>
          <a:xfrm>
            <a:off x="4080785" y="845517"/>
            <a:ext cx="45966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Kiekviena viršūnė gali turėti iki dviejų pomedžių.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Nuo šaknies iki kiekvieno kito mazgo egzistuoja tik vienas kelias.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Viršūnės reikšmė yra didesnė už visas reikšmes jos kairiajame pomedyje.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Viršūnės reikšmė yra mažesnė už visas reikšmes jos dešiniajame pomedyje.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Kairysis ir dešinysis pomedžiai yra dvejetainiai paieškos medžiai.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Viršūnių reikšmės negali kartotis.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Savybės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cxnSp>
        <p:nvCxnSpPr>
          <p:cNvPr id="80" name="Google Shape;80;p14"/>
          <p:cNvCxnSpPr/>
          <p:nvPr/>
        </p:nvCxnSpPr>
        <p:spPr>
          <a:xfrm flipH="1">
            <a:off x="1596975" y="1855175"/>
            <a:ext cx="321900" cy="6387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/>
          <p:nvPr/>
        </p:nvCxnSpPr>
        <p:spPr>
          <a:xfrm flipH="1">
            <a:off x="1596975" y="3137400"/>
            <a:ext cx="321900" cy="6435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" name="Google Shape;82;p14"/>
          <p:cNvGrpSpPr/>
          <p:nvPr/>
        </p:nvGrpSpPr>
        <p:grpSpPr>
          <a:xfrm>
            <a:off x="1270325" y="1206775"/>
            <a:ext cx="1287150" cy="2578950"/>
            <a:chOff x="750675" y="1891650"/>
            <a:chExt cx="1287150" cy="2578950"/>
          </a:xfrm>
        </p:grpSpPr>
        <p:cxnSp>
          <p:nvCxnSpPr>
            <p:cNvPr id="83" name="Google Shape;83;p14"/>
            <p:cNvCxnSpPr/>
            <p:nvPr/>
          </p:nvCxnSpPr>
          <p:spPr>
            <a:xfrm flipH="1">
              <a:off x="750675" y="1891650"/>
              <a:ext cx="3219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>
              <a:off x="1082325" y="1896525"/>
              <a:ext cx="955500" cy="19356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4"/>
            <p:cNvCxnSpPr/>
            <p:nvPr/>
          </p:nvCxnSpPr>
          <p:spPr>
            <a:xfrm flipH="1">
              <a:off x="750975" y="3183600"/>
              <a:ext cx="3216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14"/>
            <p:cNvCxnSpPr/>
            <p:nvPr/>
          </p:nvCxnSpPr>
          <p:spPr>
            <a:xfrm>
              <a:off x="1077450" y="3183600"/>
              <a:ext cx="643500" cy="12870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" name="Google Shape;87;p14"/>
          <p:cNvSpPr/>
          <p:nvPr/>
        </p:nvSpPr>
        <p:spPr>
          <a:xfrm>
            <a:off x="1433325" y="3610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2075325" y="3610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1112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754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96325" y="2968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1433325" y="2326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075325" y="2326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112325" y="1684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754325" y="1684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433325" y="104245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370527" y="1526700"/>
            <a:ext cx="3295763" cy="1947075"/>
            <a:chOff x="370525" y="1145700"/>
            <a:chExt cx="3047400" cy="1947075"/>
          </a:xfrm>
        </p:grpSpPr>
        <p:cxnSp>
          <p:nvCxnSpPr>
            <p:cNvPr id="102" name="Google Shape;102;p15"/>
            <p:cNvCxnSpPr/>
            <p:nvPr/>
          </p:nvCxnSpPr>
          <p:spPr>
            <a:xfrm>
              <a:off x="370525" y="1145700"/>
              <a:ext cx="3047400" cy="0"/>
            </a:xfrm>
            <a:prstGeom prst="straightConnector1">
              <a:avLst/>
            </a:prstGeom>
            <a:noFill/>
            <a:ln cap="flat" cmpd="sng" w="952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5"/>
            <p:cNvCxnSpPr/>
            <p:nvPr/>
          </p:nvCxnSpPr>
          <p:spPr>
            <a:xfrm>
              <a:off x="370525" y="1807124"/>
              <a:ext cx="3047400" cy="0"/>
            </a:xfrm>
            <a:prstGeom prst="straightConnector1">
              <a:avLst/>
            </a:prstGeom>
            <a:noFill/>
            <a:ln cap="flat" cmpd="sng" w="952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5"/>
            <p:cNvCxnSpPr/>
            <p:nvPr/>
          </p:nvCxnSpPr>
          <p:spPr>
            <a:xfrm>
              <a:off x="370525" y="2441102"/>
              <a:ext cx="3047400" cy="0"/>
            </a:xfrm>
            <a:prstGeom prst="straightConnector1">
              <a:avLst/>
            </a:prstGeom>
            <a:noFill/>
            <a:ln cap="flat" cmpd="sng" w="952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15"/>
            <p:cNvCxnSpPr/>
            <p:nvPr/>
          </p:nvCxnSpPr>
          <p:spPr>
            <a:xfrm>
              <a:off x="370525" y="3092775"/>
              <a:ext cx="3047400" cy="0"/>
            </a:xfrm>
            <a:prstGeom prst="straightConnector1">
              <a:avLst/>
            </a:prstGeom>
            <a:noFill/>
            <a:ln cap="flat" cmpd="sng" w="952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6" name="Google Shape;106;p15"/>
          <p:cNvCxnSpPr/>
          <p:nvPr/>
        </p:nvCxnSpPr>
        <p:spPr>
          <a:xfrm flipH="1">
            <a:off x="1248150" y="1541325"/>
            <a:ext cx="643500" cy="6483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5"/>
          <p:cNvCxnSpPr/>
          <p:nvPr/>
        </p:nvCxnSpPr>
        <p:spPr>
          <a:xfrm>
            <a:off x="1886775" y="1541325"/>
            <a:ext cx="653400" cy="6483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5"/>
          <p:cNvCxnSpPr/>
          <p:nvPr/>
        </p:nvCxnSpPr>
        <p:spPr>
          <a:xfrm flipH="1">
            <a:off x="2208400" y="2189750"/>
            <a:ext cx="321900" cy="6339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5"/>
          <p:cNvCxnSpPr/>
          <p:nvPr/>
        </p:nvCxnSpPr>
        <p:spPr>
          <a:xfrm>
            <a:off x="2208525" y="2828425"/>
            <a:ext cx="326700" cy="6387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5"/>
          <p:cNvCxnSpPr/>
          <p:nvPr/>
        </p:nvCxnSpPr>
        <p:spPr>
          <a:xfrm flipH="1">
            <a:off x="1891500" y="2828425"/>
            <a:ext cx="321900" cy="6339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1238350" y="2204375"/>
            <a:ext cx="336300" cy="6288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5"/>
          <p:cNvCxnSpPr/>
          <p:nvPr/>
        </p:nvCxnSpPr>
        <p:spPr>
          <a:xfrm flipH="1">
            <a:off x="921400" y="2184875"/>
            <a:ext cx="326700" cy="6435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5"/>
          <p:cNvCxnSpPr/>
          <p:nvPr/>
        </p:nvCxnSpPr>
        <p:spPr>
          <a:xfrm flipH="1">
            <a:off x="609525" y="2828425"/>
            <a:ext cx="316800" cy="6435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5"/>
          <p:cNvCxnSpPr/>
          <p:nvPr/>
        </p:nvCxnSpPr>
        <p:spPr>
          <a:xfrm>
            <a:off x="926325" y="2828425"/>
            <a:ext cx="326700" cy="6435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5"/>
          <p:cNvSpPr txBox="1"/>
          <p:nvPr/>
        </p:nvSpPr>
        <p:spPr>
          <a:xfrm>
            <a:off x="4484975" y="841248"/>
            <a:ext cx="4075200" cy="27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Pradinis mazgas vadinamas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šaknimi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Mazgas be vaikų vadinamas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lapu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Mazgo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lygis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(arba gylis): briaunų skaičius kelyje nuo šaknies iki to mazgo.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Medžio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aukštis h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lygių skaičius (medžio gylis)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Pilnas medis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kiekvienas mazgas turi tiksliai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du vaikus ir visi lapai yra tame pačiame lygyje.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656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4076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0496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446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0866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7286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3706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86625" y="2016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370625" y="2016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728625" y="1374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2683500" y="1972400"/>
            <a:ext cx="98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Level 1. ≤ 2</a:t>
            </a:r>
            <a:r>
              <a:rPr baseline="30000"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69925" y="3822400"/>
            <a:ext cx="21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Nepilnas (nesubalansuotas) media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683500" y="1306101"/>
            <a:ext cx="98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Level 0. ≤ 2</a:t>
            </a:r>
            <a:r>
              <a:rPr baseline="30000"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683500" y="2606377"/>
            <a:ext cx="98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Level 2. ≤ 2</a:t>
            </a:r>
            <a:r>
              <a:rPr baseline="30000"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683500" y="3259855"/>
            <a:ext cx="98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Level 3. ≤ 2</a:t>
            </a:r>
            <a:r>
              <a:rPr baseline="30000"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Terminologija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 rot="-1327829">
            <a:off x="2001512" y="1851570"/>
            <a:ext cx="1348226" cy="2091055"/>
          </a:xfrm>
          <a:prstGeom prst="ellipse">
            <a:avLst/>
          </a:prstGeom>
          <a:noFill/>
          <a:ln cap="flat" cmpd="sng" w="9525">
            <a:solidFill>
              <a:srgbClr val="48709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636325" y="1852625"/>
            <a:ext cx="1204200" cy="1911300"/>
          </a:xfrm>
          <a:prstGeom prst="ellipse">
            <a:avLst/>
          </a:prstGeom>
          <a:noFill/>
          <a:ln cap="flat" cmpd="sng" w="9525">
            <a:solidFill>
              <a:srgbClr val="48709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31125" y="2184150"/>
            <a:ext cx="326700" cy="6486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" name="Google Shape;139;p16"/>
          <p:cNvGrpSpPr/>
          <p:nvPr/>
        </p:nvGrpSpPr>
        <p:grpSpPr>
          <a:xfrm>
            <a:off x="904425" y="1540600"/>
            <a:ext cx="2257325" cy="1940400"/>
            <a:chOff x="599625" y="1540600"/>
            <a:chExt cx="2257325" cy="1940400"/>
          </a:xfrm>
        </p:grpSpPr>
        <p:cxnSp>
          <p:nvCxnSpPr>
            <p:cNvPr id="140" name="Google Shape;140;p16"/>
            <p:cNvCxnSpPr/>
            <p:nvPr/>
          </p:nvCxnSpPr>
          <p:spPr>
            <a:xfrm flipH="1">
              <a:off x="926375" y="1540600"/>
              <a:ext cx="6435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6"/>
            <p:cNvCxnSpPr/>
            <p:nvPr/>
          </p:nvCxnSpPr>
          <p:spPr>
            <a:xfrm>
              <a:off x="1569875" y="1540600"/>
              <a:ext cx="6435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6"/>
            <p:cNvCxnSpPr/>
            <p:nvPr/>
          </p:nvCxnSpPr>
          <p:spPr>
            <a:xfrm flipH="1">
              <a:off x="1891800" y="2179275"/>
              <a:ext cx="3216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6"/>
            <p:cNvCxnSpPr/>
            <p:nvPr/>
          </p:nvCxnSpPr>
          <p:spPr>
            <a:xfrm rot="10800000">
              <a:off x="2213450" y="2188975"/>
              <a:ext cx="643500" cy="1277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16"/>
            <p:cNvCxnSpPr/>
            <p:nvPr/>
          </p:nvCxnSpPr>
          <p:spPr>
            <a:xfrm rot="10800000">
              <a:off x="1886700" y="2827750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16"/>
            <p:cNvCxnSpPr/>
            <p:nvPr/>
          </p:nvCxnSpPr>
          <p:spPr>
            <a:xfrm rot="10800000">
              <a:off x="599625" y="2827900"/>
              <a:ext cx="326700" cy="6531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16"/>
            <p:cNvCxnSpPr/>
            <p:nvPr/>
          </p:nvCxnSpPr>
          <p:spPr>
            <a:xfrm flipH="1" rot="10800000">
              <a:off x="604550" y="2184200"/>
              <a:ext cx="3171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" name="Google Shape;147;p16"/>
          <p:cNvSpPr txBox="1"/>
          <p:nvPr/>
        </p:nvSpPr>
        <p:spPr>
          <a:xfrm>
            <a:off x="4484975" y="841248"/>
            <a:ext cx="40821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Medžio (pomedžio) šaknyje saugoma reikšmė yra didesnė už bet kurią jo kairiojo pomedžio </a:t>
            </a:r>
            <a:r>
              <a:rPr lang="en"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reikšmę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ir mažesnė už bet kurią </a:t>
            </a:r>
            <a:r>
              <a:rPr lang="en"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reikšmę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dešiniajame pomedyje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Mažiausia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medžio reikšmė yra saugoma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kairiajame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pomedyje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Didžiausia</a:t>
            </a:r>
            <a:r>
              <a:rPr lang="en"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medžio reikšmė yra saugoma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dežiniajame</a:t>
            </a:r>
            <a:r>
              <a:rPr lang="en"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pomedyje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0704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354425" y="3300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996425" y="3300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FF79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49425" y="2658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FF79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3914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0334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675425" y="2658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70425" y="2016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2354425" y="2016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1712425" y="1374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74725" y="3898600"/>
            <a:ext cx="116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Visos kairiajame pomedyje esančios reikšmės  yra mažesnės nei šakninio mazgo vertė</a:t>
            </a:r>
            <a:endParaRPr sz="7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2198725" y="3898600"/>
            <a:ext cx="129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Visos dešiniajame pomedyje esančios reikšmės  yra didesnės nei šakninio mazgo vertė</a:t>
            </a:r>
            <a:endParaRPr sz="7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Paieška medyje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17"/>
          <p:cNvCxnSpPr/>
          <p:nvPr/>
        </p:nvCxnSpPr>
        <p:spPr>
          <a:xfrm>
            <a:off x="2017850" y="3264500"/>
            <a:ext cx="316800" cy="648300"/>
          </a:xfrm>
          <a:prstGeom prst="straightConnector1">
            <a:avLst/>
          </a:prstGeom>
          <a:noFill/>
          <a:ln cap="flat" cmpd="sng" w="28575">
            <a:solidFill>
              <a:srgbClr val="48709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6" name="Google Shape;166;p17"/>
          <p:cNvGrpSpPr/>
          <p:nvPr/>
        </p:nvGrpSpPr>
        <p:grpSpPr>
          <a:xfrm>
            <a:off x="735600" y="1333850"/>
            <a:ext cx="2242700" cy="2574200"/>
            <a:chOff x="507000" y="1867250"/>
            <a:chExt cx="2242700" cy="2574200"/>
          </a:xfrm>
        </p:grpSpPr>
        <p:cxnSp>
          <p:nvCxnSpPr>
            <p:cNvPr id="167" name="Google Shape;167;p17"/>
            <p:cNvCxnSpPr/>
            <p:nvPr/>
          </p:nvCxnSpPr>
          <p:spPr>
            <a:xfrm>
              <a:off x="1789250" y="1867250"/>
              <a:ext cx="6387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10800000">
              <a:off x="2427800" y="2510775"/>
              <a:ext cx="321900" cy="6387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>
              <a:off x="1145675" y="1867250"/>
              <a:ext cx="6387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7"/>
            <p:cNvCxnSpPr/>
            <p:nvPr/>
          </p:nvCxnSpPr>
          <p:spPr>
            <a:xfrm flipH="1">
              <a:off x="507000" y="2510800"/>
              <a:ext cx="638700" cy="12870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7"/>
            <p:cNvCxnSpPr/>
            <p:nvPr/>
          </p:nvCxnSpPr>
          <p:spPr>
            <a:xfrm>
              <a:off x="1150575" y="2510800"/>
              <a:ext cx="648300" cy="12921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17"/>
            <p:cNvCxnSpPr/>
            <p:nvPr/>
          </p:nvCxnSpPr>
          <p:spPr>
            <a:xfrm flipH="1">
              <a:off x="2111125" y="2505925"/>
              <a:ext cx="316800" cy="6483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17"/>
            <p:cNvCxnSpPr/>
            <p:nvPr/>
          </p:nvCxnSpPr>
          <p:spPr>
            <a:xfrm>
              <a:off x="823925" y="3159225"/>
              <a:ext cx="321900" cy="6387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17"/>
            <p:cNvCxnSpPr/>
            <p:nvPr/>
          </p:nvCxnSpPr>
          <p:spPr>
            <a:xfrm flipH="1" rot="10800000">
              <a:off x="1472350" y="3793150"/>
              <a:ext cx="3168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" name="Google Shape;175;p17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Paieška medyje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4484975" y="841248"/>
            <a:ext cx="4082100" cy="30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Pradėkite nuo šaknies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Palyginkite ieškomo elemento vertę su šaknyje išsaugota verte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Jei reikšmės yra vienodos, tada elementas surastas; priešingu atveju, jei tai yra lapas, tada nerandama.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Jei ji yra mažesnė už šaknyje išsaugotą vertę, ieškokite kairiajame pomedyje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Jei ji yra didesnė už šaknyje išsaugotą vertę, ieškokite dešiniajame pomedyje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Pakartokite 2–6 veiksmus, atlikdami ankstesniame 4 arba 5 žingsnyje pasirinkto porūšio šaknį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532425" y="37365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FF79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174425" y="37365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69425" y="30945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211425" y="30945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853425" y="30945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90425" y="2453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532425" y="2453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174425" y="2453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16425" y="2453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1211425" y="18113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495425" y="1811300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853425" y="11697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695740" y="1558125"/>
            <a:ext cx="576525" cy="2271925"/>
          </a:xfrm>
          <a:custGeom>
            <a:rect b="b" l="l" r="r" t="t"/>
            <a:pathLst>
              <a:path extrusionOk="0" h="90877" w="23061">
                <a:moveTo>
                  <a:pt x="11714" y="0"/>
                </a:moveTo>
                <a:cubicBezTo>
                  <a:pt x="9796" y="3445"/>
                  <a:pt x="-1677" y="9329"/>
                  <a:pt x="208" y="20672"/>
                </a:cubicBezTo>
                <a:cubicBezTo>
                  <a:pt x="2093" y="32015"/>
                  <a:pt x="22147" y="56359"/>
                  <a:pt x="23025" y="68060"/>
                </a:cubicBezTo>
                <a:cubicBezTo>
                  <a:pt x="23903" y="79761"/>
                  <a:pt x="8399" y="87074"/>
                  <a:pt x="5474" y="90877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190" name="Google Shape;190;p17"/>
          <p:cNvSpPr txBox="1"/>
          <p:nvPr/>
        </p:nvSpPr>
        <p:spPr>
          <a:xfrm>
            <a:off x="1872923" y="920600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1245638" y="1554017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1573009" y="2210565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1887559" y="28591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39800" y="1044025"/>
            <a:ext cx="11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Find 9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8"/>
          <p:cNvGrpSpPr/>
          <p:nvPr/>
        </p:nvGrpSpPr>
        <p:grpSpPr>
          <a:xfrm>
            <a:off x="6649475" y="2952025"/>
            <a:ext cx="1926000" cy="1605000"/>
            <a:chOff x="6536625" y="2571750"/>
            <a:chExt cx="1926000" cy="1605000"/>
          </a:xfrm>
        </p:grpSpPr>
        <p:grpSp>
          <p:nvGrpSpPr>
            <p:cNvPr id="200" name="Google Shape;200;p18"/>
            <p:cNvGrpSpPr/>
            <p:nvPr/>
          </p:nvGrpSpPr>
          <p:grpSpPr>
            <a:xfrm>
              <a:off x="6698725" y="2735775"/>
              <a:ext cx="1603900" cy="1291850"/>
              <a:chOff x="5523775" y="2905700"/>
              <a:chExt cx="1603900" cy="1291850"/>
            </a:xfrm>
          </p:grpSpPr>
          <p:cxnSp>
            <p:nvCxnSpPr>
              <p:cNvPr id="201" name="Google Shape;201;p18"/>
              <p:cNvCxnSpPr/>
              <p:nvPr/>
            </p:nvCxnSpPr>
            <p:spPr>
              <a:xfrm flipH="1">
                <a:off x="5523825" y="2905700"/>
                <a:ext cx="6435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2" name="Google Shape;202;p18"/>
              <p:cNvCxnSpPr/>
              <p:nvPr/>
            </p:nvCxnSpPr>
            <p:spPr>
              <a:xfrm>
                <a:off x="6167325" y="2905700"/>
                <a:ext cx="638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8"/>
              <p:cNvCxnSpPr/>
              <p:nvPr/>
            </p:nvCxnSpPr>
            <p:spPr>
              <a:xfrm>
                <a:off x="5523775" y="3549250"/>
                <a:ext cx="326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18"/>
              <p:cNvCxnSpPr/>
              <p:nvPr/>
            </p:nvCxnSpPr>
            <p:spPr>
              <a:xfrm flipH="1">
                <a:off x="6484100" y="3549250"/>
                <a:ext cx="321900" cy="64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8"/>
              <p:cNvCxnSpPr/>
              <p:nvPr/>
            </p:nvCxnSpPr>
            <p:spPr>
              <a:xfrm>
                <a:off x="6810875" y="3549250"/>
                <a:ext cx="316800" cy="64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6" name="Google Shape;206;p18"/>
            <p:cNvSpPr/>
            <p:nvPr/>
          </p:nvSpPr>
          <p:spPr>
            <a:xfrm>
              <a:off x="6857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7499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8141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6536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7820625" y="3213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7178625" y="2571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2" name="Google Shape;212;p18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Elemento įterpimas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grpSp>
        <p:nvGrpSpPr>
          <p:cNvPr id="213" name="Google Shape;213;p18"/>
          <p:cNvGrpSpPr/>
          <p:nvPr/>
        </p:nvGrpSpPr>
        <p:grpSpPr>
          <a:xfrm>
            <a:off x="4287275" y="2952025"/>
            <a:ext cx="1605000" cy="1605000"/>
            <a:chOff x="6536625" y="2571750"/>
            <a:chExt cx="1605000" cy="1605000"/>
          </a:xfrm>
        </p:grpSpPr>
        <p:grpSp>
          <p:nvGrpSpPr>
            <p:cNvPr id="214" name="Google Shape;214;p18"/>
            <p:cNvGrpSpPr/>
            <p:nvPr/>
          </p:nvGrpSpPr>
          <p:grpSpPr>
            <a:xfrm>
              <a:off x="6698725" y="2735775"/>
              <a:ext cx="1282250" cy="1291850"/>
              <a:chOff x="5523775" y="2905700"/>
              <a:chExt cx="1282250" cy="1291850"/>
            </a:xfrm>
          </p:grpSpPr>
          <p:cxnSp>
            <p:nvCxnSpPr>
              <p:cNvPr id="215" name="Google Shape;215;p18"/>
              <p:cNvCxnSpPr/>
              <p:nvPr/>
            </p:nvCxnSpPr>
            <p:spPr>
              <a:xfrm flipH="1">
                <a:off x="5523825" y="2905700"/>
                <a:ext cx="6435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18"/>
              <p:cNvCxnSpPr/>
              <p:nvPr/>
            </p:nvCxnSpPr>
            <p:spPr>
              <a:xfrm>
                <a:off x="6167325" y="2905700"/>
                <a:ext cx="638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" name="Google Shape;217;p18"/>
              <p:cNvCxnSpPr/>
              <p:nvPr/>
            </p:nvCxnSpPr>
            <p:spPr>
              <a:xfrm>
                <a:off x="5523775" y="3549250"/>
                <a:ext cx="326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18"/>
              <p:cNvCxnSpPr/>
              <p:nvPr/>
            </p:nvCxnSpPr>
            <p:spPr>
              <a:xfrm flipH="1">
                <a:off x="6484100" y="3549250"/>
                <a:ext cx="321900" cy="647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9" name="Google Shape;219;p18"/>
            <p:cNvSpPr/>
            <p:nvPr/>
          </p:nvSpPr>
          <p:spPr>
            <a:xfrm>
              <a:off x="6857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7499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6536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7820625" y="3213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178625" y="2571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1848875" y="2952025"/>
            <a:ext cx="1605000" cy="1605000"/>
            <a:chOff x="6536625" y="2571750"/>
            <a:chExt cx="1605000" cy="1605000"/>
          </a:xfrm>
        </p:grpSpPr>
        <p:grpSp>
          <p:nvGrpSpPr>
            <p:cNvPr id="225" name="Google Shape;225;p18"/>
            <p:cNvGrpSpPr/>
            <p:nvPr/>
          </p:nvGrpSpPr>
          <p:grpSpPr>
            <a:xfrm>
              <a:off x="6698725" y="2735775"/>
              <a:ext cx="1282250" cy="1291850"/>
              <a:chOff x="5523775" y="2905700"/>
              <a:chExt cx="1282250" cy="129185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 flipH="1">
                <a:off x="5523825" y="2905700"/>
                <a:ext cx="6435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6167325" y="2905700"/>
                <a:ext cx="638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5523775" y="3549250"/>
                <a:ext cx="326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9" name="Google Shape;229;p18"/>
            <p:cNvSpPr/>
            <p:nvPr/>
          </p:nvSpPr>
          <p:spPr>
            <a:xfrm>
              <a:off x="6857625" y="3855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6536625" y="3213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7820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7178625" y="2571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3" name="Google Shape;233;p18"/>
          <p:cNvGrpSpPr/>
          <p:nvPr/>
        </p:nvGrpSpPr>
        <p:grpSpPr>
          <a:xfrm>
            <a:off x="6649475" y="1428025"/>
            <a:ext cx="1605000" cy="963000"/>
            <a:chOff x="6536625" y="2571750"/>
            <a:chExt cx="1605000" cy="963000"/>
          </a:xfrm>
        </p:grpSpPr>
        <p:grpSp>
          <p:nvGrpSpPr>
            <p:cNvPr id="234" name="Google Shape;234;p18"/>
            <p:cNvGrpSpPr/>
            <p:nvPr/>
          </p:nvGrpSpPr>
          <p:grpSpPr>
            <a:xfrm>
              <a:off x="6698775" y="2735775"/>
              <a:ext cx="1282200" cy="648300"/>
              <a:chOff x="5523825" y="2905700"/>
              <a:chExt cx="1282200" cy="648300"/>
            </a:xfrm>
          </p:grpSpPr>
          <p:cxnSp>
            <p:nvCxnSpPr>
              <p:cNvPr id="235" name="Google Shape;235;p18"/>
              <p:cNvCxnSpPr/>
              <p:nvPr/>
            </p:nvCxnSpPr>
            <p:spPr>
              <a:xfrm flipH="1">
                <a:off x="5523825" y="2905700"/>
                <a:ext cx="6435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18"/>
              <p:cNvCxnSpPr/>
              <p:nvPr/>
            </p:nvCxnSpPr>
            <p:spPr>
              <a:xfrm>
                <a:off x="6167325" y="2905700"/>
                <a:ext cx="6387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7" name="Google Shape;237;p18"/>
            <p:cNvSpPr/>
            <p:nvPr/>
          </p:nvSpPr>
          <p:spPr>
            <a:xfrm>
              <a:off x="6536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820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7178625" y="2571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0" name="Google Shape;240;p18"/>
          <p:cNvGrpSpPr/>
          <p:nvPr/>
        </p:nvGrpSpPr>
        <p:grpSpPr>
          <a:xfrm>
            <a:off x="4912850" y="1428025"/>
            <a:ext cx="963000" cy="963000"/>
            <a:chOff x="7178625" y="2571750"/>
            <a:chExt cx="963000" cy="963000"/>
          </a:xfrm>
        </p:grpSpPr>
        <p:cxnSp>
          <p:nvCxnSpPr>
            <p:cNvPr id="241" name="Google Shape;241;p18"/>
            <p:cNvCxnSpPr/>
            <p:nvPr/>
          </p:nvCxnSpPr>
          <p:spPr>
            <a:xfrm>
              <a:off x="7342275" y="2735775"/>
              <a:ext cx="6387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18"/>
            <p:cNvSpPr/>
            <p:nvPr/>
          </p:nvSpPr>
          <p:spPr>
            <a:xfrm>
              <a:off x="7820625" y="3213750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7178625" y="25717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44" name="Google Shape;244;p18"/>
          <p:cNvSpPr/>
          <p:nvPr/>
        </p:nvSpPr>
        <p:spPr>
          <a:xfrm>
            <a:off x="2490875" y="14280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FF79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2302548" y="1044025"/>
            <a:ext cx="69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1. Insert 5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4721447" y="1044025"/>
            <a:ext cx="69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. Insert 9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7083647" y="1044025"/>
            <a:ext cx="69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. Insert 3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2302548" y="2568025"/>
            <a:ext cx="69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. Insert 4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4740948" y="2568025"/>
            <a:ext cx="69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. Insert 7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103150" y="2568025"/>
            <a:ext cx="74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. Insert 12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4950160" y="11863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7326986" y="11863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2526386" y="27103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964786" y="27103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7326986" y="2710368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889339" y="3350484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5608513" y="3350484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970713" y="3350484"/>
            <a:ext cx="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5251475" y="1565000"/>
            <a:ext cx="477800" cy="502150"/>
          </a:xfrm>
          <a:custGeom>
            <a:rect b="b" l="l" r="r" t="t"/>
            <a:pathLst>
              <a:path extrusionOk="0" h="20086" w="19112">
                <a:moveTo>
                  <a:pt x="0" y="0"/>
                </a:moveTo>
                <a:cubicBezTo>
                  <a:pt x="2730" y="780"/>
                  <a:pt x="13196" y="1332"/>
                  <a:pt x="16381" y="4680"/>
                </a:cubicBezTo>
                <a:cubicBezTo>
                  <a:pt x="19566" y="8028"/>
                  <a:pt x="18657" y="17518"/>
                  <a:pt x="19112" y="20086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260" name="Google Shape;260;p18"/>
          <p:cNvSpPr/>
          <p:nvPr/>
        </p:nvSpPr>
        <p:spPr>
          <a:xfrm>
            <a:off x="6821350" y="1569875"/>
            <a:ext cx="448525" cy="497275"/>
          </a:xfrm>
          <a:custGeom>
            <a:rect b="b" l="l" r="r" t="t"/>
            <a:pathLst>
              <a:path extrusionOk="0" h="19891" w="17941">
                <a:moveTo>
                  <a:pt x="17941" y="0"/>
                </a:moveTo>
                <a:cubicBezTo>
                  <a:pt x="15373" y="455"/>
                  <a:pt x="5525" y="-585"/>
                  <a:pt x="2535" y="2730"/>
                </a:cubicBezTo>
                <a:cubicBezTo>
                  <a:pt x="-455" y="6045"/>
                  <a:pt x="423" y="17031"/>
                  <a:pt x="0" y="19891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261" name="Google Shape;261;p18"/>
          <p:cNvSpPr/>
          <p:nvPr/>
        </p:nvSpPr>
        <p:spPr>
          <a:xfrm>
            <a:off x="2247112" y="3329875"/>
            <a:ext cx="361925" cy="887300"/>
          </a:xfrm>
          <a:custGeom>
            <a:rect b="b" l="l" r="r" t="t"/>
            <a:pathLst>
              <a:path extrusionOk="0" h="35492" w="14477">
                <a:moveTo>
                  <a:pt x="14477" y="0"/>
                </a:moveTo>
                <a:cubicBezTo>
                  <a:pt x="13177" y="1333"/>
                  <a:pt x="9082" y="4647"/>
                  <a:pt x="6677" y="7995"/>
                </a:cubicBezTo>
                <a:cubicBezTo>
                  <a:pt x="4272" y="11343"/>
                  <a:pt x="534" y="15503"/>
                  <a:pt x="46" y="20086"/>
                </a:cubicBezTo>
                <a:cubicBezTo>
                  <a:pt x="-441" y="24669"/>
                  <a:pt x="3134" y="32924"/>
                  <a:pt x="3752" y="35492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262" name="Google Shape;262;p18"/>
          <p:cNvSpPr/>
          <p:nvPr/>
        </p:nvSpPr>
        <p:spPr>
          <a:xfrm>
            <a:off x="5114250" y="3310375"/>
            <a:ext cx="386900" cy="940925"/>
          </a:xfrm>
          <a:custGeom>
            <a:rect b="b" l="l" r="r" t="t"/>
            <a:pathLst>
              <a:path extrusionOk="0" h="37637" w="15476">
                <a:moveTo>
                  <a:pt x="0" y="0"/>
                </a:moveTo>
                <a:cubicBezTo>
                  <a:pt x="2475" y="3315"/>
                  <a:pt x="12733" y="13618"/>
                  <a:pt x="14850" y="19891"/>
                </a:cubicBezTo>
                <a:cubicBezTo>
                  <a:pt x="16968" y="26164"/>
                  <a:pt x="13063" y="34679"/>
                  <a:pt x="12705" y="37637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263" name="Google Shape;263;p18"/>
          <p:cNvSpPr/>
          <p:nvPr/>
        </p:nvSpPr>
        <p:spPr>
          <a:xfrm>
            <a:off x="7473925" y="3315250"/>
            <a:ext cx="766150" cy="989700"/>
          </a:xfrm>
          <a:custGeom>
            <a:rect b="b" l="l" r="r" t="t"/>
            <a:pathLst>
              <a:path extrusionOk="0" h="39588" w="30646">
                <a:moveTo>
                  <a:pt x="0" y="0"/>
                </a:moveTo>
                <a:cubicBezTo>
                  <a:pt x="2470" y="4290"/>
                  <a:pt x="9713" y="19144"/>
                  <a:pt x="14821" y="25742"/>
                </a:cubicBezTo>
                <a:cubicBezTo>
                  <a:pt x="19929" y="32340"/>
                  <a:pt x="28009" y="37280"/>
                  <a:pt x="30646" y="39588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264" name="Google Shape;264;p18"/>
          <p:cNvSpPr txBox="1"/>
          <p:nvPr/>
        </p:nvSpPr>
        <p:spPr>
          <a:xfrm>
            <a:off x="211200" y="1044025"/>
            <a:ext cx="11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5, 9, 3, 4, 7, 12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Elemento įterpimas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grpSp>
        <p:nvGrpSpPr>
          <p:cNvPr id="270" name="Google Shape;270;p19"/>
          <p:cNvGrpSpPr/>
          <p:nvPr/>
        </p:nvGrpSpPr>
        <p:grpSpPr>
          <a:xfrm>
            <a:off x="6107300" y="597450"/>
            <a:ext cx="2247000" cy="4173000"/>
            <a:chOff x="6107300" y="597450"/>
            <a:chExt cx="2247000" cy="4173000"/>
          </a:xfrm>
        </p:grpSpPr>
        <p:cxnSp>
          <p:nvCxnSpPr>
            <p:cNvPr id="271" name="Google Shape;271;p19"/>
            <p:cNvCxnSpPr/>
            <p:nvPr/>
          </p:nvCxnSpPr>
          <p:spPr>
            <a:xfrm rot="10800000">
              <a:off x="6279675" y="755650"/>
              <a:ext cx="1915800" cy="3861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2" name="Google Shape;272;p19"/>
            <p:cNvSpPr/>
            <p:nvPr/>
          </p:nvSpPr>
          <p:spPr>
            <a:xfrm>
              <a:off x="6428300" y="1239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6749300" y="1881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7070300" y="2523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7391300" y="3165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7712300" y="380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8033300" y="4449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6107300" y="59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9" name="Google Shape;279;p19"/>
          <p:cNvGrpSpPr/>
          <p:nvPr/>
        </p:nvGrpSpPr>
        <p:grpSpPr>
          <a:xfrm>
            <a:off x="4550100" y="1240413"/>
            <a:ext cx="1284000" cy="2887075"/>
            <a:chOff x="4684950" y="1269125"/>
            <a:chExt cx="1284000" cy="2887075"/>
          </a:xfrm>
        </p:grpSpPr>
        <p:grpSp>
          <p:nvGrpSpPr>
            <p:cNvPr id="280" name="Google Shape;280;p19"/>
            <p:cNvGrpSpPr/>
            <p:nvPr/>
          </p:nvGrpSpPr>
          <p:grpSpPr>
            <a:xfrm>
              <a:off x="4850975" y="1423475"/>
              <a:ext cx="970200" cy="2579175"/>
              <a:chOff x="4850975" y="1423475"/>
              <a:chExt cx="970200" cy="2579175"/>
            </a:xfrm>
          </p:grpSpPr>
          <p:cxnSp>
            <p:nvCxnSpPr>
              <p:cNvPr id="281" name="Google Shape;281;p19"/>
              <p:cNvCxnSpPr/>
              <p:nvPr/>
            </p:nvCxnSpPr>
            <p:spPr>
              <a:xfrm flipH="1" rot="10800000">
                <a:off x="4850975" y="1433175"/>
                <a:ext cx="316800" cy="648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2" name="Google Shape;282;p19"/>
              <p:cNvCxnSpPr/>
              <p:nvPr/>
            </p:nvCxnSpPr>
            <p:spPr>
              <a:xfrm rot="10800000">
                <a:off x="5172875" y="1423475"/>
                <a:ext cx="648300" cy="1292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3" name="Google Shape;283;p19"/>
              <p:cNvCxnSpPr/>
              <p:nvPr/>
            </p:nvCxnSpPr>
            <p:spPr>
              <a:xfrm flipH="1">
                <a:off x="5167675" y="2081775"/>
                <a:ext cx="336600" cy="648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4" name="Google Shape;284;p19"/>
              <p:cNvCxnSpPr/>
              <p:nvPr/>
            </p:nvCxnSpPr>
            <p:spPr>
              <a:xfrm flipH="1">
                <a:off x="5177600" y="2720450"/>
                <a:ext cx="638700" cy="1282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85" name="Google Shape;285;p19"/>
            <p:cNvSpPr/>
            <p:nvPr/>
          </p:nvSpPr>
          <p:spPr>
            <a:xfrm>
              <a:off x="5326950" y="319320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5005950" y="255120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5647950" y="255120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4684950" y="19111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5326950" y="19111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5005950" y="12691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5005950" y="383520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2" name="Google Shape;292;p19"/>
          <p:cNvGrpSpPr/>
          <p:nvPr/>
        </p:nvGrpSpPr>
        <p:grpSpPr>
          <a:xfrm>
            <a:off x="878775" y="2522500"/>
            <a:ext cx="2247000" cy="1605000"/>
            <a:chOff x="350250" y="2523450"/>
            <a:chExt cx="2247000" cy="1605000"/>
          </a:xfrm>
        </p:grpSpPr>
        <p:grpSp>
          <p:nvGrpSpPr>
            <p:cNvPr id="293" name="Google Shape;293;p19"/>
            <p:cNvGrpSpPr/>
            <p:nvPr/>
          </p:nvGrpSpPr>
          <p:grpSpPr>
            <a:xfrm>
              <a:off x="511775" y="2686325"/>
              <a:ext cx="1930825" cy="1292225"/>
              <a:chOff x="511775" y="2686325"/>
              <a:chExt cx="1930825" cy="1292225"/>
            </a:xfrm>
          </p:grpSpPr>
          <p:cxnSp>
            <p:nvCxnSpPr>
              <p:cNvPr id="294" name="Google Shape;294;p19"/>
              <p:cNvCxnSpPr/>
              <p:nvPr/>
            </p:nvCxnSpPr>
            <p:spPr>
              <a:xfrm flipH="1">
                <a:off x="838525" y="2691200"/>
                <a:ext cx="638700" cy="643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19"/>
              <p:cNvCxnSpPr/>
              <p:nvPr/>
            </p:nvCxnSpPr>
            <p:spPr>
              <a:xfrm>
                <a:off x="1477225" y="2686325"/>
                <a:ext cx="643500" cy="6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19"/>
              <p:cNvCxnSpPr/>
              <p:nvPr/>
            </p:nvCxnSpPr>
            <p:spPr>
              <a:xfrm>
                <a:off x="2115900" y="3334750"/>
                <a:ext cx="326700" cy="643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19"/>
              <p:cNvCxnSpPr/>
              <p:nvPr/>
            </p:nvCxnSpPr>
            <p:spPr>
              <a:xfrm flipH="1">
                <a:off x="1803825" y="3334750"/>
                <a:ext cx="307200" cy="633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19"/>
              <p:cNvCxnSpPr/>
              <p:nvPr/>
            </p:nvCxnSpPr>
            <p:spPr>
              <a:xfrm>
                <a:off x="833675" y="3329875"/>
                <a:ext cx="316800" cy="63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19"/>
              <p:cNvCxnSpPr/>
              <p:nvPr/>
            </p:nvCxnSpPr>
            <p:spPr>
              <a:xfrm flipH="1">
                <a:off x="511775" y="3334750"/>
                <a:ext cx="321900" cy="63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79C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0" name="Google Shape;300;p19"/>
            <p:cNvSpPr/>
            <p:nvPr/>
          </p:nvSpPr>
          <p:spPr>
            <a:xfrm>
              <a:off x="350250" y="380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992250" y="380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1634250" y="380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276250" y="3807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671250" y="3165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1955250" y="3165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1313250" y="2523450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07" name="Google Shape;307;p19"/>
          <p:cNvSpPr txBox="1"/>
          <p:nvPr/>
        </p:nvSpPr>
        <p:spPr>
          <a:xfrm>
            <a:off x="4550100" y="4315400"/>
            <a:ext cx="128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B, A, D, C, G, F, E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O(logN) … O(N)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6531300" y="4315400"/>
            <a:ext cx="128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A, B, C, D, E, F, G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O(N)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1349700" y="4315400"/>
            <a:ext cx="128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D, B, F, A, C, E, G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O(logN)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211200" y="806450"/>
            <a:ext cx="4278900" cy="18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Elementų įterpimo eiliškumas į BST yra svarbus.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Nesubalansuoti medžiai yra nepageidaujami, nes ilgėja paieškos laikas.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Kitos duomenų struktūros, tokios kaip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raudonai-juodi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arba </a:t>
            </a:r>
            <a:r>
              <a:rPr b="1"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AVL</a:t>
            </a: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medžiai, užtikrina subalansuotus medžius.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Google Shape;315;p20"/>
          <p:cNvCxnSpPr/>
          <p:nvPr/>
        </p:nvCxnSpPr>
        <p:spPr>
          <a:xfrm>
            <a:off x="1563725" y="3189200"/>
            <a:ext cx="326700" cy="6387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0"/>
          <p:cNvSpPr txBox="1"/>
          <p:nvPr/>
        </p:nvSpPr>
        <p:spPr>
          <a:xfrm>
            <a:off x="4484975" y="577850"/>
            <a:ext cx="4082100" cy="30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Ištrindami mazgą turime atsižvelgti į tai, kas nutiks su ištrinto mazgo vaikais. Po elemento šalinimo turi būti išlaikytos BST savybės.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Trys atvejai: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Lapo šalinimas.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Viršūnės, turinčios vieną vaiką, šalinimas.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Light"/>
              <a:buAutoNum type="arabicPeriod"/>
            </a:pPr>
            <a:r>
              <a:rPr lang="en" sz="12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Viršūnės, turinčios du vaikus, šalinimas.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Elemento šalinimas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grpSp>
        <p:nvGrpSpPr>
          <p:cNvPr id="318" name="Google Shape;318;p20"/>
          <p:cNvGrpSpPr/>
          <p:nvPr/>
        </p:nvGrpSpPr>
        <p:grpSpPr>
          <a:xfrm>
            <a:off x="441800" y="1736025"/>
            <a:ext cx="1605000" cy="2247000"/>
            <a:chOff x="746600" y="1812225"/>
            <a:chExt cx="1605000" cy="2247000"/>
          </a:xfrm>
        </p:grpSpPr>
        <p:cxnSp>
          <p:nvCxnSpPr>
            <p:cNvPr id="319" name="Google Shape;319;p20"/>
            <p:cNvCxnSpPr/>
            <p:nvPr/>
          </p:nvCxnSpPr>
          <p:spPr>
            <a:xfrm flipH="1">
              <a:off x="906775" y="1984275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20"/>
            <p:cNvCxnSpPr/>
            <p:nvPr/>
          </p:nvCxnSpPr>
          <p:spPr>
            <a:xfrm flipH="1">
              <a:off x="1228775" y="2627825"/>
              <a:ext cx="3216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20"/>
            <p:cNvCxnSpPr/>
            <p:nvPr/>
          </p:nvCxnSpPr>
          <p:spPr>
            <a:xfrm>
              <a:off x="1233475" y="1979400"/>
              <a:ext cx="639900" cy="12909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" name="Google Shape;322;p20"/>
            <p:cNvSpPr/>
            <p:nvPr/>
          </p:nvSpPr>
          <p:spPr>
            <a:xfrm>
              <a:off x="2030600" y="3738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1067600" y="3096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1709600" y="3096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746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1388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1067600" y="1812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2346800" y="1736025"/>
            <a:ext cx="1605000" cy="2247000"/>
            <a:chOff x="746600" y="1812225"/>
            <a:chExt cx="1605000" cy="2247000"/>
          </a:xfrm>
        </p:grpSpPr>
        <p:cxnSp>
          <p:nvCxnSpPr>
            <p:cNvPr id="329" name="Google Shape;329;p20"/>
            <p:cNvCxnSpPr/>
            <p:nvPr/>
          </p:nvCxnSpPr>
          <p:spPr>
            <a:xfrm flipH="1">
              <a:off x="906775" y="1984275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20"/>
            <p:cNvCxnSpPr/>
            <p:nvPr/>
          </p:nvCxnSpPr>
          <p:spPr>
            <a:xfrm flipH="1">
              <a:off x="1228775" y="2627825"/>
              <a:ext cx="3216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20"/>
            <p:cNvCxnSpPr/>
            <p:nvPr/>
          </p:nvCxnSpPr>
          <p:spPr>
            <a:xfrm>
              <a:off x="1233475" y="1979400"/>
              <a:ext cx="659400" cy="1306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2" name="Google Shape;332;p20"/>
            <p:cNvSpPr/>
            <p:nvPr/>
          </p:nvSpPr>
          <p:spPr>
            <a:xfrm>
              <a:off x="2030600" y="3738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1067600" y="3096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1709600" y="3096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746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1388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1067600" y="1812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38" name="Google Shape;338;p20"/>
          <p:cNvSpPr txBox="1"/>
          <p:nvPr/>
        </p:nvSpPr>
        <p:spPr>
          <a:xfrm>
            <a:off x="211200" y="1231600"/>
            <a:ext cx="111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Lapo šalinimas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21120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Pašalinti elementą Z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21"/>
          <p:cNvCxnSpPr/>
          <p:nvPr/>
        </p:nvCxnSpPr>
        <p:spPr>
          <a:xfrm>
            <a:off x="2826450" y="1902100"/>
            <a:ext cx="326700" cy="648300"/>
          </a:xfrm>
          <a:prstGeom prst="straightConnector1">
            <a:avLst/>
          </a:prstGeom>
          <a:noFill/>
          <a:ln cap="flat" cmpd="sng" w="28575">
            <a:solidFill>
              <a:srgbClr val="48709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1"/>
          <p:cNvCxnSpPr/>
          <p:nvPr/>
        </p:nvCxnSpPr>
        <p:spPr>
          <a:xfrm>
            <a:off x="920175" y="1906975"/>
            <a:ext cx="326700" cy="638700"/>
          </a:xfrm>
          <a:prstGeom prst="straightConnector1">
            <a:avLst/>
          </a:prstGeom>
          <a:noFill/>
          <a:ln cap="flat" cmpd="sng" w="28575">
            <a:solidFill>
              <a:srgbClr val="48709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1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Elemento šalinimas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grpSp>
        <p:nvGrpSpPr>
          <p:cNvPr id="347" name="Google Shape;347;p21"/>
          <p:cNvGrpSpPr/>
          <p:nvPr/>
        </p:nvGrpSpPr>
        <p:grpSpPr>
          <a:xfrm>
            <a:off x="441800" y="1736025"/>
            <a:ext cx="1605000" cy="2247000"/>
            <a:chOff x="746600" y="1812225"/>
            <a:chExt cx="1605000" cy="2247000"/>
          </a:xfrm>
        </p:grpSpPr>
        <p:cxnSp>
          <p:nvCxnSpPr>
            <p:cNvPr id="348" name="Google Shape;348;p21"/>
            <p:cNvCxnSpPr/>
            <p:nvPr/>
          </p:nvCxnSpPr>
          <p:spPr>
            <a:xfrm flipH="1">
              <a:off x="906775" y="1984275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21"/>
            <p:cNvCxnSpPr/>
            <p:nvPr/>
          </p:nvCxnSpPr>
          <p:spPr>
            <a:xfrm flipH="1">
              <a:off x="1228775" y="2627825"/>
              <a:ext cx="3216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21"/>
            <p:cNvCxnSpPr/>
            <p:nvPr/>
          </p:nvCxnSpPr>
          <p:spPr>
            <a:xfrm>
              <a:off x="1551625" y="2626725"/>
              <a:ext cx="647400" cy="12882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" name="Google Shape;351;p21"/>
            <p:cNvSpPr/>
            <p:nvPr/>
          </p:nvSpPr>
          <p:spPr>
            <a:xfrm>
              <a:off x="2030600" y="3738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1067600" y="3096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1709600" y="3096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FF79C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746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1388600" y="2454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1067600" y="1812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7" name="Google Shape;357;p21"/>
          <p:cNvGrpSpPr/>
          <p:nvPr/>
        </p:nvGrpSpPr>
        <p:grpSpPr>
          <a:xfrm>
            <a:off x="2346800" y="1736025"/>
            <a:ext cx="1605000" cy="2247000"/>
            <a:chOff x="746600" y="1812225"/>
            <a:chExt cx="1605000" cy="2247000"/>
          </a:xfrm>
        </p:grpSpPr>
        <p:cxnSp>
          <p:nvCxnSpPr>
            <p:cNvPr id="358" name="Google Shape;358;p21"/>
            <p:cNvCxnSpPr/>
            <p:nvPr/>
          </p:nvCxnSpPr>
          <p:spPr>
            <a:xfrm flipH="1">
              <a:off x="906775" y="1984275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21"/>
            <p:cNvCxnSpPr/>
            <p:nvPr/>
          </p:nvCxnSpPr>
          <p:spPr>
            <a:xfrm flipH="1">
              <a:off x="1228775" y="2627825"/>
              <a:ext cx="3216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21"/>
            <p:cNvCxnSpPr/>
            <p:nvPr/>
          </p:nvCxnSpPr>
          <p:spPr>
            <a:xfrm>
              <a:off x="1552900" y="2616975"/>
              <a:ext cx="339900" cy="6690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1" name="Google Shape;361;p21"/>
            <p:cNvSpPr/>
            <p:nvPr/>
          </p:nvSpPr>
          <p:spPr>
            <a:xfrm>
              <a:off x="2030600" y="3738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1067600" y="3096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1709600" y="3096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746600" y="2454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1388600" y="2454225"/>
              <a:ext cx="321000" cy="321000"/>
            </a:xfrm>
            <a:prstGeom prst="ellipse">
              <a:avLst/>
            </a:prstGeom>
            <a:solidFill>
              <a:srgbClr val="FF79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1067600" y="1812225"/>
              <a:ext cx="321000" cy="321000"/>
            </a:xfrm>
            <a:prstGeom prst="ellipse">
              <a:avLst/>
            </a:prstGeom>
            <a:solidFill>
              <a:srgbClr val="282A36"/>
            </a:solidFill>
            <a:ln cap="flat" cmpd="sng" w="28575">
              <a:solidFill>
                <a:srgbClr val="4870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</a:t>
              </a:r>
              <a:endParaRPr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67" name="Google Shape;367;p21"/>
          <p:cNvSpPr txBox="1"/>
          <p:nvPr/>
        </p:nvSpPr>
        <p:spPr>
          <a:xfrm>
            <a:off x="211200" y="1231600"/>
            <a:ext cx="29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Viršūnės, turinčios vieną vaiką, šalinimas.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422350" y="2579775"/>
            <a:ext cx="606925" cy="1087225"/>
          </a:xfrm>
          <a:custGeom>
            <a:rect b="b" l="l" r="r" t="t"/>
            <a:pathLst>
              <a:path extrusionOk="0" h="43489" w="24277">
                <a:moveTo>
                  <a:pt x="0" y="0"/>
                </a:moveTo>
                <a:cubicBezTo>
                  <a:pt x="3900" y="2535"/>
                  <a:pt x="20183" y="7964"/>
                  <a:pt x="23401" y="15212"/>
                </a:cubicBezTo>
                <a:cubicBezTo>
                  <a:pt x="26619" y="22460"/>
                  <a:pt x="19989" y="38776"/>
                  <a:pt x="19306" y="43489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none"/>
            <a:tailEnd len="med" w="med" type="triangle"/>
          </a:ln>
        </p:spPr>
      </p:sp>
      <p:sp>
        <p:nvSpPr>
          <p:cNvPr id="369" name="Google Shape;369;p21"/>
          <p:cNvSpPr txBox="1"/>
          <p:nvPr/>
        </p:nvSpPr>
        <p:spPr>
          <a:xfrm>
            <a:off x="21120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Pašalinti elementą R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0" name="Google Shape;370;p21"/>
          <p:cNvCxnSpPr/>
          <p:nvPr/>
        </p:nvCxnSpPr>
        <p:spPr>
          <a:xfrm flipH="1">
            <a:off x="7579575" y="3822275"/>
            <a:ext cx="321900" cy="643500"/>
          </a:xfrm>
          <a:prstGeom prst="straightConnector1">
            <a:avLst/>
          </a:prstGeom>
          <a:noFill/>
          <a:ln cap="flat" cmpd="sng" w="28575">
            <a:solidFill>
              <a:srgbClr val="48709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1"/>
          <p:cNvCxnSpPr/>
          <p:nvPr/>
        </p:nvCxnSpPr>
        <p:spPr>
          <a:xfrm flipH="1">
            <a:off x="5522175" y="2540050"/>
            <a:ext cx="321900" cy="638700"/>
          </a:xfrm>
          <a:prstGeom prst="straightConnector1">
            <a:avLst/>
          </a:prstGeom>
          <a:noFill/>
          <a:ln cap="flat" cmpd="sng" w="28575">
            <a:solidFill>
              <a:srgbClr val="FF79C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1"/>
          <p:cNvCxnSpPr/>
          <p:nvPr/>
        </p:nvCxnSpPr>
        <p:spPr>
          <a:xfrm flipH="1">
            <a:off x="5522175" y="3822275"/>
            <a:ext cx="321900" cy="643500"/>
          </a:xfrm>
          <a:prstGeom prst="straightConnector1">
            <a:avLst/>
          </a:prstGeom>
          <a:noFill/>
          <a:ln cap="flat" cmpd="sng" w="28575">
            <a:solidFill>
              <a:srgbClr val="48709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3" name="Google Shape;373;p21"/>
          <p:cNvGrpSpPr/>
          <p:nvPr/>
        </p:nvGrpSpPr>
        <p:grpSpPr>
          <a:xfrm>
            <a:off x="5195525" y="1891650"/>
            <a:ext cx="1287150" cy="2578950"/>
            <a:chOff x="750675" y="1891650"/>
            <a:chExt cx="1287150" cy="2578950"/>
          </a:xfrm>
        </p:grpSpPr>
        <p:cxnSp>
          <p:nvCxnSpPr>
            <p:cNvPr id="374" name="Google Shape;374;p21"/>
            <p:cNvCxnSpPr/>
            <p:nvPr/>
          </p:nvCxnSpPr>
          <p:spPr>
            <a:xfrm flipH="1">
              <a:off x="750675" y="1891650"/>
              <a:ext cx="321900" cy="6483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21"/>
            <p:cNvCxnSpPr/>
            <p:nvPr/>
          </p:nvCxnSpPr>
          <p:spPr>
            <a:xfrm>
              <a:off x="1082325" y="1896525"/>
              <a:ext cx="955500" cy="19356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21"/>
            <p:cNvCxnSpPr/>
            <p:nvPr/>
          </p:nvCxnSpPr>
          <p:spPr>
            <a:xfrm flipH="1">
              <a:off x="750975" y="3183600"/>
              <a:ext cx="321600" cy="6387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21"/>
            <p:cNvCxnSpPr/>
            <p:nvPr/>
          </p:nvCxnSpPr>
          <p:spPr>
            <a:xfrm>
              <a:off x="1077450" y="3183600"/>
              <a:ext cx="643500" cy="12870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8" name="Google Shape;378;p21"/>
          <p:cNvSpPr/>
          <p:nvPr/>
        </p:nvSpPr>
        <p:spPr>
          <a:xfrm>
            <a:off x="5358525" y="4295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6000525" y="42953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50375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56795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63215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5358525" y="3011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6000525" y="3011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037525" y="2369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5679525" y="2369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FF79C6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5358525" y="1727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8" name="Google Shape;388;p21"/>
          <p:cNvGrpSpPr/>
          <p:nvPr/>
        </p:nvGrpSpPr>
        <p:grpSpPr>
          <a:xfrm>
            <a:off x="7252925" y="1891650"/>
            <a:ext cx="1287150" cy="1940475"/>
            <a:chOff x="750675" y="1891650"/>
            <a:chExt cx="1287150" cy="1940475"/>
          </a:xfrm>
        </p:grpSpPr>
        <p:cxnSp>
          <p:nvCxnSpPr>
            <p:cNvPr id="389" name="Google Shape;389;p21"/>
            <p:cNvCxnSpPr/>
            <p:nvPr/>
          </p:nvCxnSpPr>
          <p:spPr>
            <a:xfrm flipH="1">
              <a:off x="750675" y="1891650"/>
              <a:ext cx="321900" cy="6483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21"/>
            <p:cNvCxnSpPr/>
            <p:nvPr/>
          </p:nvCxnSpPr>
          <p:spPr>
            <a:xfrm>
              <a:off x="1082325" y="1896525"/>
              <a:ext cx="955500" cy="19356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21"/>
            <p:cNvCxnSpPr/>
            <p:nvPr/>
          </p:nvCxnSpPr>
          <p:spPr>
            <a:xfrm flipH="1">
              <a:off x="750850" y="2535175"/>
              <a:ext cx="643500" cy="12870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21"/>
            <p:cNvCxnSpPr/>
            <p:nvPr/>
          </p:nvCxnSpPr>
          <p:spPr>
            <a:xfrm>
              <a:off x="1077450" y="3183600"/>
              <a:ext cx="316800" cy="643500"/>
            </a:xfrm>
            <a:prstGeom prst="straightConnector1">
              <a:avLst/>
            </a:prstGeom>
            <a:noFill/>
            <a:ln cap="flat" cmpd="sng" w="2857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3" name="Google Shape;393;p21"/>
          <p:cNvSpPr/>
          <p:nvPr/>
        </p:nvSpPr>
        <p:spPr>
          <a:xfrm>
            <a:off x="7415925" y="4295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8057925" y="4295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70949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77369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8378925" y="3653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7415925" y="3011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8057925" y="3011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7094925" y="2369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7736925" y="23693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7415925" y="1727325"/>
            <a:ext cx="321000" cy="321000"/>
          </a:xfrm>
          <a:prstGeom prst="ellipse">
            <a:avLst/>
          </a:prstGeom>
          <a:solidFill>
            <a:srgbClr val="282A36"/>
          </a:solidFill>
          <a:ln cap="flat" cmpd="sng" w="28575">
            <a:solidFill>
              <a:srgbClr val="4870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840214" y="2739950"/>
            <a:ext cx="378600" cy="1560125"/>
          </a:xfrm>
          <a:custGeom>
            <a:rect b="b" l="l" r="r" t="t"/>
            <a:pathLst>
              <a:path extrusionOk="0" h="62405" w="15144">
                <a:moveTo>
                  <a:pt x="349" y="0"/>
                </a:moveTo>
                <a:cubicBezTo>
                  <a:pt x="512" y="4160"/>
                  <a:pt x="-984" y="17552"/>
                  <a:pt x="1324" y="24962"/>
                </a:cubicBezTo>
                <a:cubicBezTo>
                  <a:pt x="3632" y="32373"/>
                  <a:pt x="12082" y="38223"/>
                  <a:pt x="14195" y="44463"/>
                </a:cubicBezTo>
                <a:cubicBezTo>
                  <a:pt x="16308" y="50704"/>
                  <a:pt x="14033" y="59415"/>
                  <a:pt x="14000" y="62405"/>
                </a:cubicBezTo>
              </a:path>
            </a:pathLst>
          </a:custGeom>
          <a:noFill/>
          <a:ln cap="flat" cmpd="sng" w="19050">
            <a:solidFill>
              <a:srgbClr val="FF79C6"/>
            </a:solidFill>
            <a:prstDash val="lgDash"/>
            <a:round/>
            <a:headEnd len="med" w="med" type="triangle"/>
            <a:tailEnd len="med" w="med" type="none"/>
          </a:ln>
        </p:spPr>
      </p:sp>
      <p:sp>
        <p:nvSpPr>
          <p:cNvPr id="404" name="Google Shape;404;p21"/>
          <p:cNvSpPr txBox="1"/>
          <p:nvPr/>
        </p:nvSpPr>
        <p:spPr>
          <a:xfrm>
            <a:off x="4783200" y="1231600"/>
            <a:ext cx="29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Viršūnės, turinčios du vaikus, šalinimas.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478320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Pašalinti elementą Q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6" name="Google Shape;406;p21"/>
          <p:cNvCxnSpPr/>
          <p:nvPr/>
        </p:nvCxnSpPr>
        <p:spPr>
          <a:xfrm>
            <a:off x="4494525" y="853175"/>
            <a:ext cx="0" cy="3753900"/>
          </a:xfrm>
          <a:prstGeom prst="straightConnector1">
            <a:avLst/>
          </a:prstGeom>
          <a:noFill/>
          <a:ln cap="flat" cmpd="sng" w="19050">
            <a:solidFill>
              <a:srgbClr val="487097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2"/>
          <p:cNvGrpSpPr/>
          <p:nvPr/>
        </p:nvGrpSpPr>
        <p:grpSpPr>
          <a:xfrm>
            <a:off x="5942876" y="1309127"/>
            <a:ext cx="2480249" cy="2172648"/>
            <a:chOff x="304076" y="928127"/>
            <a:chExt cx="2480249" cy="2172648"/>
          </a:xfrm>
        </p:grpSpPr>
        <p:sp>
          <p:nvSpPr>
            <p:cNvPr id="412" name="Google Shape;412;p22"/>
            <p:cNvSpPr/>
            <p:nvPr/>
          </p:nvSpPr>
          <p:spPr>
            <a:xfrm>
              <a:off x="1006025" y="984825"/>
              <a:ext cx="1087200" cy="7362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30407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158972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 txBox="1"/>
            <p:nvPr/>
          </p:nvSpPr>
          <p:spPr>
            <a:xfrm>
              <a:off x="1406444" y="928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6" name="Google Shape;416;p22"/>
            <p:cNvSpPr txBox="1"/>
            <p:nvPr/>
          </p:nvSpPr>
          <p:spPr>
            <a:xfrm>
              <a:off x="364021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2473244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8" name="Google Shape;418;p22"/>
          <p:cNvGrpSpPr/>
          <p:nvPr/>
        </p:nvGrpSpPr>
        <p:grpSpPr>
          <a:xfrm>
            <a:off x="3123476" y="1309127"/>
            <a:ext cx="2480249" cy="2172648"/>
            <a:chOff x="304076" y="928127"/>
            <a:chExt cx="2480249" cy="2172648"/>
          </a:xfrm>
        </p:grpSpPr>
        <p:sp>
          <p:nvSpPr>
            <p:cNvPr id="419" name="Google Shape;419;p22"/>
            <p:cNvSpPr/>
            <p:nvPr/>
          </p:nvSpPr>
          <p:spPr>
            <a:xfrm>
              <a:off x="1006025" y="984825"/>
              <a:ext cx="1087200" cy="7362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0407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158972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1406444" y="928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364021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4" name="Google Shape;424;p22"/>
            <p:cNvSpPr txBox="1"/>
            <p:nvPr/>
          </p:nvSpPr>
          <p:spPr>
            <a:xfrm>
              <a:off x="2473244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25" name="Google Shape;425;p22"/>
          <p:cNvGrpSpPr/>
          <p:nvPr/>
        </p:nvGrpSpPr>
        <p:grpSpPr>
          <a:xfrm>
            <a:off x="304076" y="1309127"/>
            <a:ext cx="2480249" cy="2172648"/>
            <a:chOff x="304076" y="928127"/>
            <a:chExt cx="2480249" cy="2172648"/>
          </a:xfrm>
        </p:grpSpPr>
        <p:sp>
          <p:nvSpPr>
            <p:cNvPr id="426" name="Google Shape;426;p22"/>
            <p:cNvSpPr/>
            <p:nvPr/>
          </p:nvSpPr>
          <p:spPr>
            <a:xfrm>
              <a:off x="1006025" y="984825"/>
              <a:ext cx="1087200" cy="7362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30407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1589726" y="1842875"/>
              <a:ext cx="1194600" cy="1257900"/>
            </a:xfrm>
            <a:prstGeom prst="ellipse">
              <a:avLst/>
            </a:prstGeom>
            <a:noFill/>
            <a:ln cap="flat" cmpd="sng" w="9525">
              <a:solidFill>
                <a:srgbClr val="487097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 txBox="1"/>
            <p:nvPr/>
          </p:nvSpPr>
          <p:spPr>
            <a:xfrm>
              <a:off x="1406444" y="928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364021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31" name="Google Shape;431;p22"/>
            <p:cNvSpPr txBox="1"/>
            <p:nvPr/>
          </p:nvSpPr>
          <p:spPr>
            <a:xfrm>
              <a:off x="2473244" y="2071127"/>
              <a:ext cx="2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32" name="Google Shape;432;p22"/>
          <p:cNvGrpSpPr/>
          <p:nvPr/>
        </p:nvGrpSpPr>
        <p:grpSpPr>
          <a:xfrm>
            <a:off x="590100" y="1828975"/>
            <a:ext cx="1920825" cy="1287200"/>
            <a:chOff x="4027225" y="2520550"/>
            <a:chExt cx="1920825" cy="1287200"/>
          </a:xfrm>
        </p:grpSpPr>
        <p:cxnSp>
          <p:nvCxnSpPr>
            <p:cNvPr id="433" name="Google Shape;433;p22"/>
            <p:cNvCxnSpPr/>
            <p:nvPr/>
          </p:nvCxnSpPr>
          <p:spPr>
            <a:xfrm>
              <a:off x="4982625" y="2520550"/>
              <a:ext cx="6534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22"/>
            <p:cNvCxnSpPr/>
            <p:nvPr/>
          </p:nvCxnSpPr>
          <p:spPr>
            <a:xfrm flipH="1">
              <a:off x="4344000" y="2525425"/>
              <a:ext cx="6435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p22"/>
            <p:cNvCxnSpPr/>
            <p:nvPr/>
          </p:nvCxnSpPr>
          <p:spPr>
            <a:xfrm flipH="1">
              <a:off x="4027225" y="3154350"/>
              <a:ext cx="3216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22"/>
            <p:cNvCxnSpPr/>
            <p:nvPr/>
          </p:nvCxnSpPr>
          <p:spPr>
            <a:xfrm>
              <a:off x="4348825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22"/>
            <p:cNvCxnSpPr/>
            <p:nvPr/>
          </p:nvCxnSpPr>
          <p:spPr>
            <a:xfrm>
              <a:off x="5626150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22"/>
            <p:cNvCxnSpPr/>
            <p:nvPr/>
          </p:nvCxnSpPr>
          <p:spPr>
            <a:xfrm flipH="1">
              <a:off x="5309125" y="3154350"/>
              <a:ext cx="3219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9" name="Google Shape;439;p22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Medžio apėjimas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426125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1068125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1710125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2352125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747125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2031125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1389125" y="1657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47" name="Google Shape;447;p22"/>
          <p:cNvGrpSpPr/>
          <p:nvPr/>
        </p:nvGrpSpPr>
        <p:grpSpPr>
          <a:xfrm>
            <a:off x="3410764" y="1828975"/>
            <a:ext cx="1920825" cy="1287200"/>
            <a:chOff x="4027225" y="2520550"/>
            <a:chExt cx="1920825" cy="1287200"/>
          </a:xfrm>
        </p:grpSpPr>
        <p:cxnSp>
          <p:nvCxnSpPr>
            <p:cNvPr id="448" name="Google Shape;448;p22"/>
            <p:cNvCxnSpPr/>
            <p:nvPr/>
          </p:nvCxnSpPr>
          <p:spPr>
            <a:xfrm>
              <a:off x="4982625" y="2520550"/>
              <a:ext cx="6534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22"/>
            <p:cNvCxnSpPr/>
            <p:nvPr/>
          </p:nvCxnSpPr>
          <p:spPr>
            <a:xfrm flipH="1">
              <a:off x="4344000" y="2525425"/>
              <a:ext cx="6435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22"/>
            <p:cNvCxnSpPr/>
            <p:nvPr/>
          </p:nvCxnSpPr>
          <p:spPr>
            <a:xfrm flipH="1">
              <a:off x="4027225" y="3154350"/>
              <a:ext cx="3216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22"/>
            <p:cNvCxnSpPr/>
            <p:nvPr/>
          </p:nvCxnSpPr>
          <p:spPr>
            <a:xfrm>
              <a:off x="4348825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22"/>
            <p:cNvCxnSpPr/>
            <p:nvPr/>
          </p:nvCxnSpPr>
          <p:spPr>
            <a:xfrm>
              <a:off x="5626150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22"/>
            <p:cNvCxnSpPr/>
            <p:nvPr/>
          </p:nvCxnSpPr>
          <p:spPr>
            <a:xfrm flipH="1">
              <a:off x="5309125" y="3154350"/>
              <a:ext cx="3219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4" name="Google Shape;454;p22"/>
          <p:cNvSpPr/>
          <p:nvPr/>
        </p:nvSpPr>
        <p:spPr>
          <a:xfrm>
            <a:off x="32467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38887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45307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51727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3567789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4851789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4209789" y="1657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61" name="Google Shape;461;p22"/>
          <p:cNvGrpSpPr/>
          <p:nvPr/>
        </p:nvGrpSpPr>
        <p:grpSpPr>
          <a:xfrm>
            <a:off x="6230164" y="1828975"/>
            <a:ext cx="1920825" cy="1287200"/>
            <a:chOff x="4027225" y="2520550"/>
            <a:chExt cx="1920825" cy="1287200"/>
          </a:xfrm>
        </p:grpSpPr>
        <p:cxnSp>
          <p:nvCxnSpPr>
            <p:cNvPr id="462" name="Google Shape;462;p22"/>
            <p:cNvCxnSpPr/>
            <p:nvPr/>
          </p:nvCxnSpPr>
          <p:spPr>
            <a:xfrm>
              <a:off x="4982625" y="2520550"/>
              <a:ext cx="653400" cy="6483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22"/>
            <p:cNvCxnSpPr/>
            <p:nvPr/>
          </p:nvCxnSpPr>
          <p:spPr>
            <a:xfrm flipH="1">
              <a:off x="4344000" y="2525425"/>
              <a:ext cx="6435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22"/>
            <p:cNvCxnSpPr/>
            <p:nvPr/>
          </p:nvCxnSpPr>
          <p:spPr>
            <a:xfrm flipH="1">
              <a:off x="4027225" y="3154350"/>
              <a:ext cx="3216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22"/>
            <p:cNvCxnSpPr/>
            <p:nvPr/>
          </p:nvCxnSpPr>
          <p:spPr>
            <a:xfrm>
              <a:off x="4348825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22"/>
            <p:cNvCxnSpPr/>
            <p:nvPr/>
          </p:nvCxnSpPr>
          <p:spPr>
            <a:xfrm>
              <a:off x="5626150" y="3159225"/>
              <a:ext cx="3219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22"/>
            <p:cNvCxnSpPr/>
            <p:nvPr/>
          </p:nvCxnSpPr>
          <p:spPr>
            <a:xfrm flipH="1">
              <a:off x="5309125" y="3154350"/>
              <a:ext cx="321900" cy="6534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8" name="Google Shape;468;p22"/>
          <p:cNvSpPr/>
          <p:nvPr/>
        </p:nvSpPr>
        <p:spPr>
          <a:xfrm>
            <a:off x="60661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67081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73501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7992189" y="2941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6387189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7671189" y="2299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7029189" y="1657200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>
            <a:off x="62845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DFS: in-order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344785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DFS: 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pre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-order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6274838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DFS: 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-order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902200" y="3621825"/>
            <a:ext cx="12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A, B, C, D, E, F, G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3721600" y="3621825"/>
            <a:ext cx="12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D, B, A, C, F, 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, G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22"/>
          <p:cNvSpPr txBox="1"/>
          <p:nvPr/>
        </p:nvSpPr>
        <p:spPr>
          <a:xfrm>
            <a:off x="6548600" y="3621825"/>
            <a:ext cx="12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A, C, B, E, G, F, D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426125" y="4002825"/>
            <a:ext cx="22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 A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plankykite viršūnės kairįjį pomedį, 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Aplankykite medžio šaknį,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Aplankykite 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viršūnės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dešinįjį pomedį.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3246800" y="4002825"/>
            <a:ext cx="224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 A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plankykite medžio šaknį,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Aplankykite viršūnės kairįjį pomedį,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Aplankykite viršūnes dešinįjį pomedį.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6066200" y="4002825"/>
            <a:ext cx="221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 Aplankykite viršūnės kairįjį pomedį, 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Aplankykite viršūnės dešinįjį pomedį,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Aplankykite medžio šaknį.</a:t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3"/>
          <p:cNvGrpSpPr/>
          <p:nvPr/>
        </p:nvGrpSpPr>
        <p:grpSpPr>
          <a:xfrm>
            <a:off x="885152" y="1421851"/>
            <a:ext cx="3295800" cy="2910156"/>
            <a:chOff x="2028152" y="1421851"/>
            <a:chExt cx="3295800" cy="2910156"/>
          </a:xfrm>
        </p:grpSpPr>
        <p:grpSp>
          <p:nvGrpSpPr>
            <p:cNvPr id="489" name="Google Shape;489;p23"/>
            <p:cNvGrpSpPr/>
            <p:nvPr/>
          </p:nvGrpSpPr>
          <p:grpSpPr>
            <a:xfrm>
              <a:off x="2028152" y="1642450"/>
              <a:ext cx="3295763" cy="1947075"/>
              <a:chOff x="370525" y="1145700"/>
              <a:chExt cx="3047400" cy="1947075"/>
            </a:xfrm>
          </p:grpSpPr>
          <p:cxnSp>
            <p:nvCxnSpPr>
              <p:cNvPr id="490" name="Google Shape;490;p23"/>
              <p:cNvCxnSpPr/>
              <p:nvPr/>
            </p:nvCxnSpPr>
            <p:spPr>
              <a:xfrm>
                <a:off x="370525" y="1145700"/>
                <a:ext cx="3047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23"/>
              <p:cNvCxnSpPr/>
              <p:nvPr/>
            </p:nvCxnSpPr>
            <p:spPr>
              <a:xfrm>
                <a:off x="370525" y="1807124"/>
                <a:ext cx="3047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23"/>
              <p:cNvCxnSpPr/>
              <p:nvPr/>
            </p:nvCxnSpPr>
            <p:spPr>
              <a:xfrm>
                <a:off x="370525" y="2441102"/>
                <a:ext cx="3047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23"/>
              <p:cNvCxnSpPr/>
              <p:nvPr/>
            </p:nvCxnSpPr>
            <p:spPr>
              <a:xfrm>
                <a:off x="370525" y="3092775"/>
                <a:ext cx="3047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487097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94" name="Google Shape;494;p23"/>
            <p:cNvSpPr txBox="1"/>
            <p:nvPr/>
          </p:nvSpPr>
          <p:spPr>
            <a:xfrm>
              <a:off x="4341125" y="2088150"/>
              <a:ext cx="982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87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Level 1</a:t>
              </a:r>
              <a:endParaRPr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5" name="Google Shape;495;p23"/>
            <p:cNvSpPr txBox="1"/>
            <p:nvPr/>
          </p:nvSpPr>
          <p:spPr>
            <a:xfrm>
              <a:off x="4341125" y="1421851"/>
              <a:ext cx="982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87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Level 0</a:t>
              </a:r>
              <a:endParaRPr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6" name="Google Shape;496;p23"/>
            <p:cNvSpPr txBox="1"/>
            <p:nvPr/>
          </p:nvSpPr>
          <p:spPr>
            <a:xfrm>
              <a:off x="4341125" y="2722126"/>
              <a:ext cx="982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87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Level 2</a:t>
              </a:r>
              <a:endParaRPr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7" name="Google Shape;497;p23"/>
            <p:cNvSpPr txBox="1"/>
            <p:nvPr/>
          </p:nvSpPr>
          <p:spPr>
            <a:xfrm>
              <a:off x="4341125" y="3375605"/>
              <a:ext cx="982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87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Level 3</a:t>
              </a:r>
              <a:endParaRPr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498" name="Google Shape;498;p23"/>
            <p:cNvCxnSpPr/>
            <p:nvPr/>
          </p:nvCxnSpPr>
          <p:spPr>
            <a:xfrm>
              <a:off x="2028152" y="4236322"/>
              <a:ext cx="3295800" cy="0"/>
            </a:xfrm>
            <a:prstGeom prst="straightConnector1">
              <a:avLst/>
            </a:prstGeom>
            <a:noFill/>
            <a:ln cap="flat" cmpd="sng" w="9525">
              <a:solidFill>
                <a:srgbClr val="4870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9" name="Google Shape;499;p23"/>
            <p:cNvSpPr txBox="1"/>
            <p:nvPr/>
          </p:nvSpPr>
          <p:spPr>
            <a:xfrm>
              <a:off x="4341125" y="4024207"/>
              <a:ext cx="982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87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Level 4</a:t>
              </a:r>
              <a:endParaRPr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00" name="Google Shape;500;p23"/>
          <p:cNvGrpSpPr/>
          <p:nvPr/>
        </p:nvGrpSpPr>
        <p:grpSpPr>
          <a:xfrm>
            <a:off x="1080325" y="1667375"/>
            <a:ext cx="2252250" cy="2564425"/>
            <a:chOff x="2223325" y="1667375"/>
            <a:chExt cx="2252250" cy="2564425"/>
          </a:xfrm>
        </p:grpSpPr>
        <p:cxnSp>
          <p:nvCxnSpPr>
            <p:cNvPr id="501" name="Google Shape;501;p23"/>
            <p:cNvCxnSpPr/>
            <p:nvPr/>
          </p:nvCxnSpPr>
          <p:spPr>
            <a:xfrm>
              <a:off x="3178725" y="1667375"/>
              <a:ext cx="6483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23"/>
            <p:cNvCxnSpPr/>
            <p:nvPr/>
          </p:nvCxnSpPr>
          <p:spPr>
            <a:xfrm flipH="1">
              <a:off x="2540025" y="1667375"/>
              <a:ext cx="6387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23"/>
            <p:cNvCxnSpPr/>
            <p:nvPr/>
          </p:nvCxnSpPr>
          <p:spPr>
            <a:xfrm flipH="1">
              <a:off x="2223325" y="2301175"/>
              <a:ext cx="3216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23"/>
            <p:cNvCxnSpPr/>
            <p:nvPr/>
          </p:nvCxnSpPr>
          <p:spPr>
            <a:xfrm>
              <a:off x="2549800" y="2310925"/>
              <a:ext cx="3120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23"/>
            <p:cNvCxnSpPr/>
            <p:nvPr/>
          </p:nvCxnSpPr>
          <p:spPr>
            <a:xfrm flipH="1" rot="10800000">
              <a:off x="2544925" y="2944750"/>
              <a:ext cx="3267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23"/>
            <p:cNvCxnSpPr/>
            <p:nvPr/>
          </p:nvCxnSpPr>
          <p:spPr>
            <a:xfrm flipH="1" rot="10800000">
              <a:off x="3505375" y="2306025"/>
              <a:ext cx="326700" cy="6387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3"/>
            <p:cNvCxnSpPr/>
            <p:nvPr/>
          </p:nvCxnSpPr>
          <p:spPr>
            <a:xfrm rot="10800000">
              <a:off x="3832075" y="2301325"/>
              <a:ext cx="643500" cy="12918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3"/>
            <p:cNvCxnSpPr/>
            <p:nvPr/>
          </p:nvCxnSpPr>
          <p:spPr>
            <a:xfrm flipH="1" rot="10800000">
              <a:off x="3827150" y="2949625"/>
              <a:ext cx="3216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3"/>
            <p:cNvCxnSpPr/>
            <p:nvPr/>
          </p:nvCxnSpPr>
          <p:spPr>
            <a:xfrm flipH="1" rot="10800000">
              <a:off x="4148925" y="3588300"/>
              <a:ext cx="316800" cy="643500"/>
            </a:xfrm>
            <a:prstGeom prst="straightConnector1">
              <a:avLst/>
            </a:prstGeom>
            <a:noFill/>
            <a:ln cap="flat" cmpd="sng" w="28575">
              <a:solidFill>
                <a:srgbClr val="FF79C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0" name="Google Shape;510;p23"/>
          <p:cNvSpPr txBox="1"/>
          <p:nvPr/>
        </p:nvSpPr>
        <p:spPr>
          <a:xfrm>
            <a:off x="211200" y="196300"/>
            <a:ext cx="40158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Medžio apėjimas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2841600" y="4060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1236600" y="3418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2520600" y="3418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3162600" y="3418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915600" y="2776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1557600" y="2776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2199600" y="2776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2841600" y="2776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1236600" y="2134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2520600" y="2134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3"/>
          <p:cNvSpPr/>
          <p:nvPr/>
        </p:nvSpPr>
        <p:spPr>
          <a:xfrm>
            <a:off x="1878600" y="1492025"/>
            <a:ext cx="321000" cy="32100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1123350" y="850600"/>
            <a:ext cx="18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FS: l</a:t>
            </a:r>
            <a:r>
              <a:rPr lang="en" sz="1200">
                <a:solidFill>
                  <a:srgbClr val="FF79C6"/>
                </a:solidFill>
                <a:latin typeface="Montserrat"/>
                <a:ea typeface="Montserrat"/>
                <a:cs typeface="Montserrat"/>
                <a:sym typeface="Montserrat"/>
              </a:rPr>
              <a:t>evel by level</a:t>
            </a:r>
            <a:endParaRPr sz="1200">
              <a:solidFill>
                <a:srgbClr val="FF79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4484975" y="577850"/>
            <a:ext cx="40821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Medžio apėjimas vyksta lygis - po - lygio, iš kairės į dešinę</a:t>
            </a:r>
            <a:endParaRPr sz="12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4484977" y="1421151"/>
            <a:ext cx="19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BST: A, B, C, D, E, F, G, H, I, J, K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2A36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"/>
          <p:cNvSpPr txBox="1"/>
          <p:nvPr/>
        </p:nvSpPr>
        <p:spPr>
          <a:xfrm>
            <a:off x="0" y="1842900"/>
            <a:ext cx="91440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79C6"/>
                </a:solidFill>
                <a:latin typeface="Comfortaa"/>
                <a:ea typeface="Comfortaa"/>
                <a:cs typeface="Comfortaa"/>
                <a:sym typeface="Comfortaa"/>
              </a:rPr>
              <a:t>Ačiū už dėmesį</a:t>
            </a:r>
            <a:endParaRPr>
              <a:solidFill>
                <a:srgbClr val="FFFFFF"/>
              </a:solidFill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  <p:sp>
        <p:nvSpPr>
          <p:cNvPr id="530" name="Google Shape;530;p24"/>
          <p:cNvSpPr txBox="1"/>
          <p:nvPr/>
        </p:nvSpPr>
        <p:spPr>
          <a:xfrm>
            <a:off x="3076050" y="2357250"/>
            <a:ext cx="29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87097"/>
                </a:solidFill>
                <a:latin typeface="Montserrat"/>
                <a:ea typeface="Montserrat"/>
                <a:cs typeface="Montserrat"/>
                <a:sym typeface="Montserrat"/>
              </a:rPr>
              <a:t>Klausimų bus?</a:t>
            </a:r>
            <a:endParaRPr sz="800">
              <a:solidFill>
                <a:srgbClr val="48709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